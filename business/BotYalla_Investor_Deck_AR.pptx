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5F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F5FC"/>
                </a:solidFill>
                <a:latin typeface="Arial"/>
              </a:rPr>
              <a:t>نمو المحافظ الإلكترونية في مصر — النصف الأول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النمو السنوي %</c:v>
                </c:pt>
              </c:strCache>
            </c:strRef>
          </c:tx>
          <c:spPr>
            <a:solidFill>
              <a:srgbClr val="8FE9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2F5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حجم التعاملات</c:v>
                  </c:pt>
                  <c:pt idx="1">
                    <c:v>قيمة التعاملات</c:v>
                  </c:pt>
                  <c:pt idx="2">
                    <c:v>عدد المحافظ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56</c:v>
                </c:pt>
                <c:pt idx="2">
                  <c:v>23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2F5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5070D"/>
        </a:solidFill>
        <a:ln>
          <a:noFill/>
        </a:ln>
        <a:effectLst/>
      </c:spPr>
    </c:plotArea>
    <c:plotVisOnly val="1"/>
    <c:dispBlanksAs val="span"/>
  </c:chart>
  <c:spPr>
    <a:solidFill>
      <a:srgbClr val="05070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5F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2F5FC"/>
                </a:solidFill>
                <a:latin typeface="Arial"/>
              </a:rPr>
              <a:t>أقصى تكلفة اكتساب محتملة لكل باقة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سقف CAC عند 3:1 (جنيه)</c:v>
                </c:pt>
              </c:strCache>
            </c:strRef>
          </c:tx>
          <c:spPr>
            <a:solidFill>
              <a:srgbClr val="8FE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5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E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E9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F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DE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تاجر شهري</c:v>
                  </c:pt>
                  <c:pt idx="1">
                    <c:v>تاجر سنوي</c:v>
                  </c:pt>
                  <c:pt idx="2">
                    <c:v>واتساب</c:v>
                  </c:pt>
                  <c:pt idx="3">
                    <c:v>وكالة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1578</c:v>
                </c:pt>
                <c:pt idx="1">
                  <c:v>2253</c:v>
                </c:pt>
                <c:pt idx="2">
                  <c:v>7117</c:v>
                </c:pt>
                <c:pt idx="3">
                  <c:v>47484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5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9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8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5070D"/>
        </a:solidFill>
        <a:ln>
          <a:noFill/>
        </a:ln>
        <a:effectLst/>
      </c:spPr>
    </c:plotArea>
    <c:plotVisOnly val="1"/>
    <c:dispBlanksAs val="span"/>
  </c:chart>
  <c:spPr>
    <a:solidFill>
      <a:srgbClr val="0507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بالمفارقة: السوق كله داخل واتساب، ونصف السوق ممنوع منه.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النقطة: الترتيب نفسه هو المنتج — لا كل ميزة على 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6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BotYalla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بوّابة التاجر الذي يستبعده النظام الرسمي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منشآت مصر غير رسمية — ولا تستطيع فتح حساب واتساب API. نبدأ معهم على تليجرام بلا أوراق، ونحصّل لهم على فودافون كاش وانستاباي.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ما قبل التأسيس · سبتمبر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كله داخل المحادثات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حكومية — MCIT/CAPMAS، لا تقدير بائع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61.7%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التجارة الإلكترونية المصرية</a:t>
            </a:r>
            <a:endParaRPr lang="en-US" sz="13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صفحات فيسبوك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75888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داخل مجموعات واتساب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مصري يستخدم</a:t>
            </a:r>
            <a:endParaRPr lang="en-US" sz="13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15984" y="182880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057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فيسبوك</a:t>
            </a:r>
            <a:endParaRPr lang="en-US" sz="13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تعمل كمتجر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93.5% من التجارة الإلكترونية المصرية تجري داخل فيسبوك وواتساب.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MCIT/CAPMAS · DataReportal 2026 · 23HubLab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 نصف السوق ممنوع من الدخول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يشترطه واتساب API في مصر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تجاري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700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ضريبية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145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هاتف غير مستخدم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210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Business Manager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0965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مطابق للسجل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أيام موافقة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1828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50.7%</a:t>
            </a:r>
            <a:endParaRPr lang="en-US" sz="6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منشآت مصر غير رسمية</a:t>
            </a:r>
            <a:endParaRPr lang="en-US" sz="1700" dirty="0"/>
          </a:p>
          <a:p>
            <a:pPr rtl="1"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تملك أياً من ذلك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وتنتج 92.3% من ناتج القطاع الخاص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343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منافس في السوق يبيع واتساب فقط ⇒ لا يستطيع بيعهم شيئاً.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CAPMAS 2022/23 · دليل واتساب API مصر (Quali-D)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ابدأ بلا أوراق، وحصّل بالسكّة المحلية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4200" y="187452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4200" y="192024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تليجرام أولاً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بوت في دقائق · لا سجل تجاري، لا بطاقة ضريبية، لا موافقات — ولا تكلفة رسائل إطلاقاً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98648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3355848"/>
            <a:ext cx="420624" cy="420624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44200" y="34015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9981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محلي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387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فودافون كاش وانستاباي — 81% و78% من المال الرقمي المصري، ولا منافس يقبلهما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379976"/>
            <a:ext cx="10698480" cy="1298448"/>
          </a:xfrm>
          <a:prstGeom prst="roundRect">
            <a:avLst>
              <a:gd name="adj" fmla="val 8451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44200" y="4837176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44200" y="48828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8114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ترقية لواتساب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02005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يتشكّل النشاط رسمياً ننقله للقناة الأكبر — وقد صار عميلاً بالفعل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الآن: سكة الدفع انفجرت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132320" y="141732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6012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1673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إلكترونية مسجّلة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0" y="237744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633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جنيه تعاملات في نصف عام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32320" y="333756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601200" y="3520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5935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حصة فودافون كاش من القيمة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4297680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60120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حصة انستاباي من الإيداعات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الجهاز القومي لتنظيم الاتصالات (NTRA) · البنك المركزي المصري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المنافسة — بصراحة كاملة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«باني بوتات عربي» ليس سوقاً فارغاً. الفجوة في الورق والعملة والسكّة.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096512" y="1783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022592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77072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يقبل فودافون كاش/انستاباي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Thikaa (البحرين)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$9.99–49.99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788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WhatsLoop (السعودية)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96512" y="2788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مجاني ثم 49 ريال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788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2" y="2788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NeedBots (مصر)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3291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$100–200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3291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Quali-D (مصر)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96512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999–9,999ج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22592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77072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297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respond.io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96512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RTL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4297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800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096512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$25–199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22592" y="4800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77072" y="4800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521208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10243A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96112" y="5303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BotYalla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096512" y="5303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مجاني – 299ج – 899ج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22592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RTL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77072" y="5303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 منافس واحد — محلي أو خليجي أو عالمي — يقبل سكّة الدفع المصرية.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التجاري — تسعير بالقناة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تليجرام تكلفته الحدّية صفر. واتساب له تكلفة لكل رسالة. التسعير يتبع التكلفة.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مجاني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0ج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تليجرام · بوت واحد</a:t>
            </a:r>
            <a:endParaRPr lang="en-US" sz="12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بلا حد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اكتساب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7588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299ج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بوتات · تحصيل</a:t>
            </a:r>
            <a:endParaRPr lang="en-US" sz="12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فودافون كاش/انستاباي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اكتساب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37376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899ج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واتساب</a:t>
            </a:r>
            <a:endParaRPr lang="en-US" sz="12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رسالة خدمية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15984" y="16916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98864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وكالة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2,999ج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عملاء بلا حد</a:t>
            </a:r>
            <a:endParaRPr lang="en-US" sz="1200" dirty="0"/>
          </a:p>
          <a:p>
            <a:pPr rtl="1"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بيضاء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 الحقيقي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التصدير للخليج بنفس المنتج وبأسعار السوق ($29/$79/$199) مع استرداد ITIDA حتى 35%.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الاقتصاد — والقرار الذي تفرضه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6304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9095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معيار CAC في مصر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– 8,000ج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7432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الاكتساب المدفوع للأفراد لا يعمل على الباقات الصغيرة — النمو يأتي من الوكالات والتكاملات والباقة المجانية، وهي قنوات لا تُدفع إلا من الإيراد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الافتراضات: هامش 95% · فقد 6%/3.5%/4%/2% شهرياً · معايير SaaS للشريحة السعرية (لا يوجد معيار مصري منشور)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الذهاب للسوق — بالقنوات لا بالإعلانات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81360" y="1545336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EasyOrders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4650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200,000+ متجر مصري · API عام · تكلفة صفر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0" y="2478024"/>
            <a:ext cx="347472" cy="347472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الوكالات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7919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 عمولة — لا ندفع شيئاً حتى يأتي الإيراد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81360" y="3410712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عربي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61188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لكل نشاط · المنافسة على النتائج ضعيفة جداً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23944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881360" y="4343400"/>
            <a:ext cx="347472" cy="347472"/>
          </a:xfrm>
          <a:prstGeom prst="ellipse">
            <a:avLst/>
          </a:prstGeom>
          <a:solidFill>
            <a:srgbClr val="B9AFFF"/>
          </a:solidFill>
          <a:ln w="12700">
            <a:solidFill>
              <a:srgbClr val="B9A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2153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الباقة المجانية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54456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تليجرام بلا تكلفة رسائل ⇒ فيروسية شبه مجانية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056632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881360" y="5276088"/>
            <a:ext cx="347472" cy="347472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148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صحافة بالبيانات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47725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«مؤشر مراسلة الأنشطة الصغيرة في مصر» — الرقم الذي يُستشهد به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الميزانية الكاملة للخطة: أقل من 1,500 دولار.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نحن اليوم — بلا تجميل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ما هو منجز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منتج كامل يعمل — تليجرام وواتساب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قنوات مجرّدة، ميديا، قوالب Meta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تحصيل فودافون كاش وانستاباي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لوحة أدمن كاملة وتسعير ديناميكي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أكواد خصم ونظام أفيليت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123 اختباراً آلياً كلها ناجحة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908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مراجعة أمنية كاملة وموثّقة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ما ليس منجزاً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عملاء مدفوعون حتى الآن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496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لم يُطلق تجارياً بعد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مؤسس فرد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لا بيانات احتفاظ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توثيق Meta Tech Provider لم يبدأ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الوحيد الذي يهم: هل يدفع التاجر المصري؟ 30 عميلاً خلال 90 يوماً يحسمه.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‏50,000–70,000 دولار — جولة ما قبل التأسيس / مسرّعة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0" y="24140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225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شريك مؤسس أو أول توظيف بحصة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517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المؤسس الفرد يجمع تمويلاً بنصف المعدل المتوقع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0" y="33741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82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اكتساب أول 200 عميل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611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بالوكالات والتكاملات — لا بالإعلانات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0" y="4334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42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Meta Tech Provider والتوسّع الخليجي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72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قناة واتساب من نازفة إلى رابحة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0" y="52943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02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12 شهراً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532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خوادم وبنية ورسائل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مسار غير مخفِّف للملكية: ITIDA Export-IT يسترد حتى 35% من إيراد التصدير (سقف 2.5 مليون جنيه).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يفوز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‏93.5% من التجارة الإلكترونية في مصر تحدث داخل فيسبوك وواتساب. ونصف منشآت مصر غير رسمية — فلا تستطيع حتى فتح حساب واتساب API.</a:t>
            </a:r>
            <a:endParaRPr lang="en-US" sz="1900" dirty="0"/>
          </a:p>
          <a:p>
            <a:pPr rtl="1" algn="r" indent="0" marL="0">
              <a:lnSpc>
                <a:spcPts val="3200"/>
              </a:lnSpc>
              <a:buNone/>
            </a:pPr>
            <a:endParaRPr lang="en-US" sz="19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 نبدأ معهم على تليجرام بلا أي أوراق، ونحصّل لهم على فودافون كاش وانستاباي — السكّتان اللتان تحملان 81% و78% من المال الرقمي المصري، ولا يقبلهما أي منافس.</a:t>
            </a:r>
            <a:endParaRPr lang="en-US" sz="1900" dirty="0"/>
          </a:p>
          <a:p>
            <a:pPr rtl="1" algn="r" indent="0" marL="0">
              <a:lnSpc>
                <a:spcPts val="3200"/>
              </a:lnSpc>
              <a:buNone/>
            </a:pPr>
            <a:endParaRPr lang="en-US" sz="1900" dirty="0"/>
          </a:p>
          <a:p>
            <a:pPr rtl="1" algn="r"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نرقّيهم لواتساب حين يكبرون.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Alsherief · info@youssefalsherief.tech · youssefalsherief.tech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BotYalla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Youssef Alsherief</dc:creator>
  <cp:lastModifiedBy>Youssef Alsherief</cp:lastModifiedBy>
  <cp:revision>1</cp:revision>
  <dcterms:created xsi:type="dcterms:W3CDTF">2026-09-11T13:23:14Z</dcterms:created>
  <dcterms:modified xsi:type="dcterms:W3CDTF">2026-09-11T13:23:14Z</dcterms:modified>
</cp:coreProperties>
</file>