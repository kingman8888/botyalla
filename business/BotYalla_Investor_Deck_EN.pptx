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5F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2F5FC"/>
                </a:solidFill>
                <a:latin typeface="Calibri"/>
              </a:rPr>
              <a:t>Egypt mobile wallet growth — H1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8FE9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2F5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Transaction volume</c:v>
                  </c:pt>
                  <c:pt idx="1">
                    <c:v>Transaction value</c:v>
                  </c:pt>
                  <c:pt idx="2">
                    <c:v>Registered wallets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56</c:v>
                </c:pt>
                <c:pt idx="2">
                  <c:v>23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2F5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9D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5070D"/>
        </a:solidFill>
        <a:ln>
          <a:noFill/>
        </a:ln>
        <a:effectLst/>
      </c:spPr>
    </c:plotArea>
    <c:plotVisOnly val="1"/>
    <c:dispBlanksAs val="span"/>
  </c:chart>
  <c:spPr>
    <a:solidFill>
      <a:srgbClr val="05070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5F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2F5FC"/>
                </a:solidFill>
                <a:latin typeface="Calibri"/>
              </a:rPr>
              <a:t>Maximum affordable acquisition cost per tier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ceiling at 3:1 (EGP)</c:v>
                </c:pt>
              </c:strCache>
            </c:strRef>
          </c:tx>
          <c:spPr>
            <a:solidFill>
              <a:srgbClr val="8FE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5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E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E9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F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Merchant monthly</c:v>
                  </c:pt>
                  <c:pt idx="1">
                    <c:v>Merchant annual</c:v>
                  </c:pt>
                  <c:pt idx="2">
                    <c:v>WhatsApp</c:v>
                  </c:pt>
                  <c:pt idx="3">
                    <c:v>Agency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1578</c:v>
                </c:pt>
                <c:pt idx="1">
                  <c:v>2253</c:v>
                </c:pt>
                <c:pt idx="2">
                  <c:v>7117</c:v>
                </c:pt>
                <c:pt idx="3">
                  <c:v>47484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5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9D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5070D"/>
        </a:solidFill>
        <a:ln>
          <a:noFill/>
        </a:ln>
        <a:effectLst/>
      </c:spPr>
    </c:plotArea>
    <c:plotVisOnly val="1"/>
    <c:dispBlanksAs val="span"/>
  </c:chart>
  <c:spPr>
    <a:solidFill>
      <a:srgbClr val="0507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paradox: the whole market lives in WhatsApp, and half the market is locked out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the sequence is the product, not any single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BotYalla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on-ramp for the merchant the formal system excludes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Egypt's businesses are informal — and cannot obtain WhatsApp API. We start them on Telegram with zero paperwork, and collect on Vodafone Cash and InstaPay.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market lives in chat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 — MCIT/CAPMAS, not a vendor estimate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Egyptian e-commerce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on Facebook pages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75888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WhatsApp groups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7376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businesses on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15984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98864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as stores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93.5% of Egyptian e-commerce happens inside Facebook and WhatsApp.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MCIT/CAPMAS · DataReportal 2026 · 23HubLab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half the market is locked out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WhatsApp API requires in Egypt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register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00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455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unused phone number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210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Business Manager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96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matching registration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approval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1828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6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Egyptian establishments are informal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have none of the above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92.3% of private-sector output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343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sells WhatsApp only ⇒ none of them can sell to these merchants.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CAPMAS 2022/23 · WhatsApp API Egypt guide (Quali-D)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start with no paperwork, collect on local rails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698480" cy="1298448"/>
          </a:xfrm>
          <a:prstGeom prst="roundRect">
            <a:avLst>
              <a:gd name="adj" fmla="val 845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87452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202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1848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first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in minutes. No register, no tax card, no approvals — and zero per-message cost.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98648"/>
            <a:ext cx="10698480" cy="1298448"/>
          </a:xfrm>
          <a:prstGeom prst="roundRect">
            <a:avLst>
              <a:gd name="adj" fmla="val 845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355848"/>
            <a:ext cx="420624" cy="420624"/>
          </a:xfrm>
          <a:prstGeom prst="ellipse">
            <a:avLst/>
          </a:prstGeom>
          <a:solidFill>
            <a:srgbClr val="B9AFFF"/>
          </a:solidFill>
          <a:ln w="12700">
            <a:solidFill>
              <a:srgbClr val="B9A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4015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09981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collection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53872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Cash and InstaPay — 81% and 78% of Egypt's digital money. No competitor accepts them.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379976"/>
            <a:ext cx="10698480" cy="1298448"/>
          </a:xfrm>
          <a:prstGeom prst="roundRect">
            <a:avLst>
              <a:gd name="adj" fmla="val 845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837176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8828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58114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to WhatsApp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020056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business formalizes we move it to the bigger channel — already a paying customer.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the payment rails exploded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132320" y="141732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6092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235440" y="1673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mobile wallets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32320" y="237744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6092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2633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transacted in six months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32320" y="333756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60920" y="3520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35935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Cash share of value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429768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6092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4553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InstaPay share of deposits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NTRA · Central Bank of Egypt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— stated honestly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"Arabic bot builder" is not empty space. The gap is paperwork, currency and rails.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096512" y="1783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022592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77072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VF Cash / InstaPay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Thikaa (Bahrain)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96512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$9.99–49.99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2286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788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WhatsLoop (Saudi)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96512" y="2788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then SAR 49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2788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2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291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NeedBots (Egypt)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$100–200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22592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577072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Quali-D (Egypt)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96512" y="3794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999–9,999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77072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297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respond.io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RTL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77072" y="4297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800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096512" y="4800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$25–199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22592" y="4800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77072" y="4800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521208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0243A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96112" y="5303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BotYalla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096512" y="5303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– EGP 299 – EGP 899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022592" y="5303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RTL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577072" y="5303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competitor — local, Gulf or global — accepts Egypt's payment rails.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priced by channel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has zero marginal cost. WhatsApp is billed per message. Pricing follows cost.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· 1 bot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messages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7588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299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bots · Vodafone Cash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InstaPay collection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37376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899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channel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service messages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15984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98864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2,999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clients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profit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Gulf export: same product at market prices ($29/$79/$199), with up to 35% ITIDA cash-back.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and the decision they force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46304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9095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CAC benchmark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2,000 – 8,000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74320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 of individual SMBs does not work at the low tiers. Growth comes from agencies, integrations and the free tier — channels paid only out of revenue.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95% margin · 6%/3.5%/4%/2% monthly churn · SaaS benchmarks for the price band (no published Egyptian benchmark exists)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channels, not ads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545336"/>
            <a:ext cx="347472" cy="347472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EasyOrders integration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4650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200,000+ Egyptian stores · public API · zero cost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478024"/>
            <a:ext cx="347472" cy="347472"/>
          </a:xfrm>
          <a:prstGeom prst="ellipse">
            <a:avLst/>
          </a:prstGeom>
          <a:solidFill>
            <a:srgbClr val="B9AFFF"/>
          </a:solidFill>
          <a:ln w="12700">
            <a:solidFill>
              <a:srgbClr val="B9A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channel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7919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commission — nothing paid until revenue arrives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91256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410712"/>
            <a:ext cx="347472" cy="347472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SEO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1188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per vertical · the SERP is genuinely thin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23944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343400"/>
            <a:ext cx="347472" cy="347472"/>
          </a:xfrm>
          <a:prstGeom prst="ellipse">
            <a:avLst/>
          </a:prstGeom>
          <a:solidFill>
            <a:srgbClr val="B9AFFF"/>
          </a:solidFill>
          <a:ln w="12700">
            <a:solidFill>
              <a:srgbClr val="B9A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42153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tier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4456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has no message cost ⇒ near-free virality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056632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5276088"/>
            <a:ext cx="347472" cy="347472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5148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Data-led PR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47725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"Egypt SMB Messaging Index" — the number everyone cites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 for this plan: under $1,500.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 — unvarnished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complete working product — Telegram and WhatsApp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9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Abstracted channels, media, Meta templates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352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Vodafone Cash and InstaPay collection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74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admin console and dynamic pricing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 codes and an affiliate system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123 automated tests, all passing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908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full, documented security 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Not done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paying customers yet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49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commercially launched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9352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founder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74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retention data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Tech Provider verification not started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160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question that matters: will the Egyptian merchant pay? 30 customers in 90 days settles 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$50,000–70,000 — pre-seed / accelerator round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4140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3225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or first equity hire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6517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founders raise at half the expected 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33741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2826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the first 200 customers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6118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agencies and integrations, not ads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3342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242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Tech Provider + Gulf expansion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45720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WhatsApp channel from bleeding to profitable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52943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5202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runway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5532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infrastructure, messaging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non-dilutive track: ITIDA Export-IT refunds up to 35% of export revenue (EGP 2.5m ceiling).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 of Egyptian e-commerce happens inside Facebook and WhatsApp. And half of Egypt's establishments are informal — they cannot even open a WhatsApp API account.</a:t>
            </a:r>
            <a:endParaRPr lang="en-US" sz="1900" dirty="0"/>
          </a:p>
          <a:p>
            <a:pPr algn="l" indent="0" marL="0">
              <a:lnSpc>
                <a:spcPts val="3200"/>
              </a:lnSpc>
              <a:buNone/>
            </a:pPr>
            <a:endParaRPr lang="en-US" sz="19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them on Telegram with zero paperwork, and collect for them on Vodafone Cash and InstaPay — the two rails carrying 81% and 78% of Egypt's digital money, accepted by no competitor.</a:t>
            </a:r>
            <a:endParaRPr lang="en-US" sz="1900" dirty="0"/>
          </a:p>
          <a:p>
            <a:pPr algn="l" indent="0" marL="0">
              <a:lnSpc>
                <a:spcPts val="3200"/>
              </a:lnSpc>
              <a:buNone/>
            </a:pPr>
            <a:endParaRPr lang="en-US" sz="19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graduate them to WhatsApp as they grow.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Alsherief · info@youssefalsherief.tech · youssefalsherief.tech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BotYalla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Youssef Alsherief</dc:creator>
  <cp:lastModifiedBy>Youssef Alsherief</cp:lastModifiedBy>
  <cp:revision>1</cp:revision>
  <dcterms:created xsi:type="dcterms:W3CDTF">2026-09-11T13:23:14Z</dcterms:created>
  <dcterms:modified xsi:type="dcterms:W3CDTF">2026-09-11T13:23:14Z</dcterms:modified>
</cp:coreProperties>
</file>